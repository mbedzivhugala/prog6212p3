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4" r:id="rId6"/>
    <p:sldId id="282" r:id="rId7"/>
    <p:sldId id="279" r:id="rId8"/>
    <p:sldId id="258" r:id="rId9"/>
    <p:sldId id="261" r:id="rId10"/>
    <p:sldId id="286" r:id="rId11"/>
    <p:sldId id="285" r:id="rId12"/>
    <p:sldId id="284" r:id="rId13"/>
    <p:sldId id="268" r:id="rId14"/>
    <p:sldId id="274" r:id="rId15"/>
    <p:sldId id="281" r:id="rId16"/>
    <p:sldId id="277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7BFA5E-3124-D96A-AC65-280B0FBAE060}" v="1397" dt="2025-11-21T09:26:00.053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6" autoAdjust="0"/>
    <p:restoredTop sz="94879" autoAdjust="0"/>
  </p:normalViewPr>
  <p:slideViewPr>
    <p:cSldViewPr showGuides="1">
      <p:cViewPr>
        <p:scale>
          <a:sx n="100" d="100"/>
          <a:sy n="100" d="100"/>
        </p:scale>
        <p:origin x="2496" y="121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11/21/2025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11/21/2025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2367" y="677174"/>
            <a:ext cx="10588845" cy="4504426"/>
          </a:xfrm>
        </p:spPr>
        <p:txBody>
          <a:bodyPr anchor="b">
            <a:normAutofit/>
          </a:bodyPr>
          <a:lstStyle/>
          <a:p>
            <a:r>
              <a:rPr lang="en-US" dirty="0"/>
              <a:t>PROG6212 PART 3 CMS SYSTEM VHUGALA MBEDZI ST10452694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D60F21-71D6-4286-A59D-65FBF464DF30}"/>
              </a:ext>
            </a:extLst>
          </p:cNvPr>
          <p:cNvSpPr txBox="1"/>
          <p:nvPr/>
        </p:nvSpPr>
        <p:spPr>
          <a:xfrm>
            <a:off x="420085" y="407783"/>
            <a:ext cx="11107056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HR USER MANAGEMENT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BFDDE59-AC43-E3F7-56B5-D7DE1C441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050" y="1333572"/>
            <a:ext cx="7941781" cy="4162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F832D3-29A6-DF8F-B2E3-692227356FC7}"/>
              </a:ext>
            </a:extLst>
          </p:cNvPr>
          <p:cNvSpPr txBox="1"/>
          <p:nvPr/>
        </p:nvSpPr>
        <p:spPr>
          <a:xfrm>
            <a:off x="861093" y="5750624"/>
            <a:ext cx="10548403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 my Accounts controller this code acts as a super user , its function is to create all profiles with no self registration and sets hourly rates as well.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 dirty="0"/>
              <a:t>SESSION MANAGEMENT</a:t>
            </a:r>
          </a:p>
        </p:txBody>
      </p:sp>
      <p:sp>
        <p:nvSpPr>
          <p:cNvPr id="28" name="Slide Number Placeholder 2">
            <a:extLst>
              <a:ext uri="{FF2B5EF4-FFF2-40B4-BE49-F238E27FC236}">
                <a16:creationId xmlns:a16="http://schemas.microsoft.com/office/drawing/2014/main" id="{891D5208-13EA-08BC-C00C-54BD1588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AAEAE4A8-A6E5-453E-B946-FB774B73F48C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5" name="Picture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68DA3CD0-E0E3-DD23-86DE-AE6B0FC91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15" y="989900"/>
            <a:ext cx="11207367" cy="4458380"/>
          </a:xfrm>
          <a:prstGeom prst="rect">
            <a:avLst/>
          </a:prstGeom>
          <a:noFill/>
        </p:spPr>
      </p:pic>
      <p:sp>
        <p:nvSpPr>
          <p:cNvPr id="29" name="Content Placeholder 4">
            <a:extLst>
              <a:ext uri="{FF2B5EF4-FFF2-40B4-BE49-F238E27FC236}">
                <a16:creationId xmlns:a16="http://schemas.microsoft.com/office/drawing/2014/main" id="{43609F36-F5A5-EDCF-69BC-511059C97F6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3507" y="5952227"/>
            <a:ext cx="10804907" cy="600973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45720" indent="0">
              <a:buNone/>
            </a:pPr>
            <a:r>
              <a:rPr lang="en-US"/>
              <a:t>This code handles session management in my AccountsController , its use is to store user identity and it enables role-based access control throughout my app.</a:t>
            </a:r>
          </a:p>
        </p:txBody>
      </p:sp>
    </p:spTree>
    <p:extLst>
      <p:ext uri="{BB962C8B-B14F-4D97-AF65-F5344CB8AC3E}">
        <p14:creationId xmlns:p14="http://schemas.microsoft.com/office/powerpoint/2010/main" val="180890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437072"/>
            <a:ext cx="10463115" cy="5707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Lecturer Auto-Calculation</a:t>
            </a:r>
            <a:endParaRPr lang="en-US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6354BAF8-C5C1-DB50-AFFD-0FABA137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AAEAE4A8-A6E5-453E-B946-FB774B73F48C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4" name="Picture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743DA009-A5EB-CA19-F323-88B5664E9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01" y="1009879"/>
            <a:ext cx="11537959" cy="4142079"/>
          </a:xfrm>
          <a:prstGeom prst="rect">
            <a:avLst/>
          </a:prstGeom>
          <a:noFill/>
        </p:spPr>
      </p:pic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99FD00D-D5D1-D3F7-8B7C-27894C04BD3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67243" y="5414513"/>
            <a:ext cx="10661171" cy="11386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This code is from my Claims Create View that implements Auto calculation  , and 180 hour validation</a:t>
            </a:r>
          </a:p>
        </p:txBody>
      </p:sp>
    </p:spTree>
    <p:extLst>
      <p:ext uri="{BB962C8B-B14F-4D97-AF65-F5344CB8AC3E}">
        <p14:creationId xmlns:p14="http://schemas.microsoft.com/office/powerpoint/2010/main" val="546413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185" y="609600"/>
            <a:ext cx="7502151" cy="570782"/>
          </a:xfrm>
        </p:spPr>
        <p:txBody>
          <a:bodyPr anchor="t">
            <a:normAutofit/>
          </a:bodyPr>
          <a:lstStyle/>
          <a:p>
            <a:r>
              <a:rPr lang="en-US"/>
              <a:t>LECTURER AUTO-CALCULATION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5693433"/>
            <a:ext cx="10163335" cy="8597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This is my Auto Calculation code from my </a:t>
            </a:r>
            <a:r>
              <a:rPr lang="en-US" err="1"/>
              <a:t>ClaimsController</a:t>
            </a:r>
            <a:r>
              <a:rPr lang="en-US"/>
              <a:t> which implements auto calculation , 180 hour validation working alongside claims create view I pasted above.</a:t>
            </a:r>
          </a:p>
        </p:txBody>
      </p:sp>
      <p:pic>
        <p:nvPicPr>
          <p:cNvPr id="4" name="Picture 3" descr="A screen shot of a computer error">
            <a:extLst>
              <a:ext uri="{FF2B5EF4-FFF2-40B4-BE49-F238E27FC236}">
                <a16:creationId xmlns:a16="http://schemas.microsoft.com/office/drawing/2014/main" id="{83BB4B26-0026-9EEA-E256-E8661827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97" y="1703178"/>
            <a:ext cx="8773652" cy="303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185" y="609600"/>
            <a:ext cx="10190017" cy="700177"/>
          </a:xfrm>
        </p:spPr>
        <p:txBody>
          <a:bodyPr>
            <a:normAutofit/>
          </a:bodyPr>
          <a:lstStyle/>
          <a:p>
            <a:r>
              <a:rPr lang="en-US"/>
              <a:t>Entity Framework and Database relationships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1D1C7-0250-310E-600C-FA985A7F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5765320"/>
            <a:ext cx="10192083" cy="6987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This code from my </a:t>
            </a:r>
            <a:r>
              <a:rPr lang="en-US" err="1"/>
              <a:t>AppDbContext</a:t>
            </a:r>
            <a:r>
              <a:rPr lang="en-US"/>
              <a:t> implements EF relationships , navigation properties and </a:t>
            </a:r>
            <a:r>
              <a:rPr lang="en-US" err="1"/>
              <a:t>databse</a:t>
            </a:r>
            <a:r>
              <a:rPr lang="en-US"/>
              <a:t> </a:t>
            </a:r>
            <a:r>
              <a:rPr lang="en-US" err="1"/>
              <a:t>contraints.Note</a:t>
            </a:r>
            <a:r>
              <a:rPr lang="en-US"/>
              <a:t> the code is under modelBuilder entity for lecturer claim</a:t>
            </a:r>
          </a:p>
        </p:txBody>
      </p:sp>
      <p:pic>
        <p:nvPicPr>
          <p:cNvPr id="21" name="Picture Placeholder 20" descr="Charts on a computer monitor">
            <a:extLst>
              <a:ext uri="{FF2B5EF4-FFF2-40B4-BE49-F238E27FC236}">
                <a16:creationId xmlns:a16="http://schemas.microsoft.com/office/drawing/2014/main" id="{E453EF88-26E8-95DB-8E27-6A42911C63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/>
        </p:blipFill>
        <p:spPr>
          <a:xfrm>
            <a:off x="7045945" y="2057400"/>
            <a:ext cx="4343400" cy="2688336"/>
          </a:xfr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958E4D6-8207-A8F9-8CCE-FCAD6EEC3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415" y="1876128"/>
            <a:ext cx="9281581" cy="287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2" y="527650"/>
            <a:ext cx="10545617" cy="774239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Entity Framework &amp; Database Relationships</a:t>
            </a:r>
          </a:p>
        </p:txBody>
      </p:sp>
      <p:pic>
        <p:nvPicPr>
          <p:cNvPr id="45" name="Picture Placeholder 44" descr="Charts on a laptop screen">
            <a:extLst>
              <a:ext uri="{FF2B5EF4-FFF2-40B4-BE49-F238E27FC236}">
                <a16:creationId xmlns:a16="http://schemas.microsoft.com/office/drawing/2014/main" id="{9731B764-336F-5EF9-5FCF-4EA90ACB8D9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" r="41931"/>
          <a:stretch/>
        </p:blipFill>
        <p:spPr>
          <a:xfrm>
            <a:off x="8120063" y="990600"/>
            <a:ext cx="4068762" cy="4384675"/>
          </a:xfrm>
        </p:spPr>
      </p:pic>
      <p:pic>
        <p:nvPicPr>
          <p:cNvPr id="3" name="Picture 2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6EAB4ED6-A4EB-DF59-10A3-DC2D74693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05" y="1288030"/>
            <a:ext cx="9664816" cy="40806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F00604-3FBC-1A1E-4C9E-EEB515BFB8B0}"/>
              </a:ext>
            </a:extLst>
          </p:cNvPr>
          <p:cNvSpPr txBox="1"/>
          <p:nvPr/>
        </p:nvSpPr>
        <p:spPr>
          <a:xfrm>
            <a:off x="730235" y="5540519"/>
            <a:ext cx="10739813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This is from my </a:t>
            </a:r>
            <a:r>
              <a:rPr lang="en-US" dirty="0" err="1"/>
              <a:t>LecturerClaim</a:t>
            </a:r>
            <a:r>
              <a:rPr lang="en-US" dirty="0"/>
              <a:t> model this code works alongside the code from the previous page in the </a:t>
            </a:r>
            <a:r>
              <a:rPr lang="en-US" dirty="0" err="1"/>
              <a:t>AppDbContext</a:t>
            </a:r>
            <a:r>
              <a:rPr lang="en-US" dirty="0"/>
              <a:t> class , allowing proper EF relationships , navigation properties , computed properties and </a:t>
            </a:r>
            <a:r>
              <a:rPr lang="en-US" dirty="0" err="1"/>
              <a:t>databse</a:t>
            </a:r>
            <a:r>
              <a:rPr lang="en-US" dirty="0"/>
              <a:t> constraints in my app .</a:t>
            </a:r>
          </a:p>
        </p:txBody>
      </p:sp>
    </p:spTree>
    <p:extLst>
      <p:ext uri="{BB962C8B-B14F-4D97-AF65-F5344CB8AC3E}">
        <p14:creationId xmlns:p14="http://schemas.microsoft.com/office/powerpoint/2010/main" val="272877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FD532B-8324-861F-ED93-92EB8E7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185" y="609600"/>
            <a:ext cx="10103774" cy="613914"/>
          </a:xfrm>
        </p:spPr>
        <p:txBody>
          <a:bodyPr/>
          <a:lstStyle/>
          <a:p>
            <a:r>
              <a:rPr lang="en-US"/>
              <a:t>LINQ REPORTING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C024B-18D5-7DDB-7B99-DD2F09CA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7B39-8948-407E-1D29-B290C2F2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5607170"/>
            <a:ext cx="8840963" cy="6412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 have additional code under that relates to this .</a:t>
            </a:r>
          </a:p>
        </p:txBody>
      </p:sp>
      <p:pic>
        <p:nvPicPr>
          <p:cNvPr id="26" name="Picture 2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CF05213-630B-F29C-9368-F88C02607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09" y="1209765"/>
            <a:ext cx="8553378" cy="412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C717FE-BCED-84E0-51E6-EE31F034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044B4-49AD-20F7-17BB-E5A0C274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Content Placeholder 6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7D163C93-F821-089C-311C-19536838B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6901" y="1314622"/>
            <a:ext cx="9989661" cy="3948622"/>
          </a:xfrm>
          <a:prstGeom prst="rect">
            <a:avLst/>
          </a:prstGeom>
        </p:spPr>
      </p:pic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BF1A7F7-6639-5556-A85E-CE9DE20F7B3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45B2AF-FF43-0E39-2768-BF12473743CE}"/>
              </a:ext>
            </a:extLst>
          </p:cNvPr>
          <p:cNvSpPr txBox="1"/>
          <p:nvPr/>
        </p:nvSpPr>
        <p:spPr>
          <a:xfrm>
            <a:off x="1228933" y="5598871"/>
            <a:ext cx="9564311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This code and the one on the </a:t>
            </a:r>
            <a:r>
              <a:rPr lang="en-US" dirty="0" err="1"/>
              <a:t>previos</a:t>
            </a:r>
            <a:r>
              <a:rPr lang="en-US" dirty="0"/>
              <a:t> page from my </a:t>
            </a:r>
            <a:r>
              <a:rPr lang="en-US" dirty="0" err="1"/>
              <a:t>EFDataService</a:t>
            </a:r>
            <a:r>
              <a:rPr lang="en-US" dirty="0"/>
              <a:t> class performs grouping aggregation and sorting .</a:t>
            </a:r>
          </a:p>
        </p:txBody>
      </p:sp>
    </p:spTree>
    <p:extLst>
      <p:ext uri="{BB962C8B-B14F-4D97-AF65-F5344CB8AC3E}">
        <p14:creationId xmlns:p14="http://schemas.microsoft.com/office/powerpoint/2010/main" val="570957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10362499" cy="685800"/>
          </a:xfrm>
        </p:spPr>
        <p:txBody>
          <a:bodyPr anchor="t">
            <a:normAutofit/>
          </a:bodyPr>
          <a:lstStyle/>
          <a:p>
            <a:r>
              <a:rPr lang="en-US"/>
              <a:t>Role-based authorization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64D93-77B3-30E7-82AA-970D214A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0F2FCCC-8EA2-9943-EE50-9E7B4E40964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FCD8176-9BE8-D483-224C-7B807A153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232" y="3123173"/>
            <a:ext cx="8475940" cy="1894037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DB03C76-662B-A769-57AB-51D4405B4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147" y="1294815"/>
            <a:ext cx="8263570" cy="148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DE02CE-24EA-1146-7831-5695933BB93B}"/>
              </a:ext>
            </a:extLst>
          </p:cNvPr>
          <p:cNvSpPr txBox="1"/>
          <p:nvPr/>
        </p:nvSpPr>
        <p:spPr>
          <a:xfrm>
            <a:off x="1585146" y="5415845"/>
            <a:ext cx="9813660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These two code snippets are from my Coordinator Controller and accounts controller , they are code that implement multi level authorization . As well as the screenshot on the following page.</a:t>
            </a:r>
          </a:p>
        </p:txBody>
      </p:sp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555B0A-8433-E13F-E91D-38D1D51F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Content Placeholder 2" descr="A computer screen with many white and blue text&#10;&#10;AI-generated content may be incorrect.">
            <a:extLst>
              <a:ext uri="{FF2B5EF4-FFF2-40B4-BE49-F238E27FC236}">
                <a16:creationId xmlns:a16="http://schemas.microsoft.com/office/drawing/2014/main" id="{8BDAECB5-9991-0884-8597-4077DCBE7FA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167676" y="1460635"/>
            <a:ext cx="9826222" cy="3898866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82233" y="4839418"/>
            <a:ext cx="10546181" cy="1713781"/>
          </a:xfrm>
        </p:spPr>
        <p:txBody>
          <a:bodyPr vert="horz" lIns="91416" tIns="45708" rIns="91416" bIns="45708" rtlCol="0" anchor="t">
            <a:normAutofit/>
          </a:bodyPr>
          <a:lstStyle/>
          <a:p>
            <a:pPr marL="4572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r>
              <a:rPr lang="en-US"/>
              <a:t>Coordinator Approval and Reject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4FE9DD-2E30-5EFA-8B09-7AFDB29E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6001C36-F3AD-A427-31F9-071D4F71CD72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369793" y="1684415"/>
            <a:ext cx="5873477" cy="4765398"/>
          </a:xfrm>
          <a:prstGeom prst="rect">
            <a:avLst/>
          </a:prstGeom>
        </p:spPr>
      </p:pic>
      <p:pic>
        <p:nvPicPr>
          <p:cNvPr id="8" name="Content Placeholder 7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33129C1E-437C-72E8-73FE-2AAFEE435A03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6329833" y="1321144"/>
            <a:ext cx="5586004" cy="514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E313EB1-C305-5858-DF08-C184BC58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/>
          <a:lstStyle/>
          <a:p>
            <a:r>
              <a:rPr lang="en-US"/>
              <a:t>Screenshots above 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1C8B966A-C846-37E1-8910-D2A0353D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AAEAE4A8-A6E5-453E-B946-FB774B73F48C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901" y="2286000"/>
            <a:ext cx="4586373" cy="1590136"/>
          </a:xfrm>
        </p:spPr>
        <p:txBody>
          <a:bodyPr>
            <a:normAutofit/>
          </a:bodyPr>
          <a:lstStyle/>
          <a:p>
            <a:r>
              <a:rPr lang="en-US"/>
              <a:t>In the above slide I pasted screenshots of my reject and approve functions in the coordinator dashboard .Used to approve and reject claims.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6" id="{E98E9C9B-9291-4B47-BC4D-DAE7B5F9EC1B}" vid="{225AF68F-18F0-421B-8B78-1F33E1A33B6C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332</Words>
  <Application>Microsoft Office PowerPoint</Application>
  <PresentationFormat>Custom</PresentationFormat>
  <Paragraphs>108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PROG6212 PART 3 CMS SYSTEM VHUGALA MBEDZI ST10452694</vt:lpstr>
      <vt:lpstr>PowerPoint Presentation</vt:lpstr>
      <vt:lpstr>SESSION MANAGEMENT</vt:lpstr>
      <vt:lpstr>Lecturer Auto-Calculation</vt:lpstr>
      <vt:lpstr>LECTURER AUTO-CALCULATION</vt:lpstr>
      <vt:lpstr>Entity Framework and Database relationships </vt:lpstr>
      <vt:lpstr>Entity Framework &amp; Database Relationships</vt:lpstr>
      <vt:lpstr>LINQ REPORTING </vt:lpstr>
      <vt:lpstr>PowerPoint Presentation</vt:lpstr>
      <vt:lpstr>Role-based authorization</vt:lpstr>
      <vt:lpstr>PowerPoint Presentation</vt:lpstr>
      <vt:lpstr>Coordinator Approval and Reject</vt:lpstr>
      <vt:lpstr>Screenshots above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353</cp:revision>
  <dcterms:created xsi:type="dcterms:W3CDTF">2025-11-21T07:07:39Z</dcterms:created>
  <dcterms:modified xsi:type="dcterms:W3CDTF">2025-11-21T10:15:33Z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